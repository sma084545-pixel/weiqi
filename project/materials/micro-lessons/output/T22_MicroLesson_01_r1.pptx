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de6256a5004067" /><Relationship Type="http://schemas.openxmlformats.org/officeDocument/2006/relationships/extended-properties" Target="/docProps/app.xml" Id="R27c8e89533724055" /><Relationship Type="http://schemas.openxmlformats.org/officeDocument/2006/relationships/officeDocument" Target="/ppt/presentation.xml" Id="R96136cc01f81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e7fb18a044b2f"/>
  </p:sldMasterIdLst>
  <p:notesMasterIdLst>
    <p:notesMasterId xmlns:r="http://schemas.openxmlformats.org/officeDocument/2006/relationships" r:id="R026b32dca0ef434a"/>
  </p:notesMasterIdLst>
  <p:sldIdLst>
    <p:sldId xmlns:r="http://schemas.openxmlformats.org/officeDocument/2006/relationships" id="256" r:id="Rae974ad45f184981"/>
    <p:sldId xmlns:r="http://schemas.openxmlformats.org/officeDocument/2006/relationships" id="257" r:id="Rea0af42dc1754fac"/>
    <p:sldId xmlns:r="http://schemas.openxmlformats.org/officeDocument/2006/relationships" id="258" r:id="Rba31e09109ec4e44"/>
    <p:sldId xmlns:r="http://schemas.openxmlformats.org/officeDocument/2006/relationships" id="259" r:id="R81162b7878874f4a"/>
    <p:sldId xmlns:r="http://schemas.openxmlformats.org/officeDocument/2006/relationships" id="260" r:id="R6677fbc42d5d42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7ba1dc9f324a56" /><Relationship Type="http://schemas.openxmlformats.org/officeDocument/2006/relationships/slideMaster" Target="/ppt/slideMasters/slideMaster1.xml" Id="Rd05e7fb18a044b2f" /><Relationship Type="http://schemas.openxmlformats.org/officeDocument/2006/relationships/notesMaster" Target="/ppt/notesMasters/notesMaster1.xml" Id="R026b32dca0ef434a" /><Relationship Type="http://schemas.openxmlformats.org/officeDocument/2006/relationships/presProps" Target="/ppt/presProps.xml" Id="R4b58efa68323407e" /><Relationship Type="http://schemas.openxmlformats.org/officeDocument/2006/relationships/tableStyles" Target="/ppt/tableStyles.xml" Id="Rb522247380274d78" /><Relationship Type="http://schemas.openxmlformats.org/officeDocument/2006/relationships/slide" Target="/ppt/slides/slide1.xml" Id="Rae974ad45f184981" /><Relationship Type="http://schemas.openxmlformats.org/officeDocument/2006/relationships/slide" Target="/ppt/slides/slide2.xml" Id="Rea0af42dc1754fac" /><Relationship Type="http://schemas.openxmlformats.org/officeDocument/2006/relationships/slide" Target="/ppt/slides/slide3.xml" Id="Rba31e09109ec4e44" /><Relationship Type="http://schemas.openxmlformats.org/officeDocument/2006/relationships/slide" Target="/ppt/slides/slide4.xml" Id="R81162b7878874f4a" /><Relationship Type="http://schemas.openxmlformats.org/officeDocument/2006/relationships/slide" Target="/ppt/slides/slide5.xml" Id="R6677fbc42d5d42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f4b3459a6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772b72c69f4aae" /><Relationship Type="http://schemas.openxmlformats.org/officeDocument/2006/relationships/notesMaster" Target="/ppt/notesMasters/notesMaster1.xml" Id="Rf5576946a2d841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6f17bd51f449d6" /><Relationship Type="http://schemas.openxmlformats.org/officeDocument/2006/relationships/notesMaster" Target="/ppt/notesMasters/notesMaster1.xml" Id="R07d760572eda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996f77087a4243" /><Relationship Type="http://schemas.openxmlformats.org/officeDocument/2006/relationships/notesMaster" Target="/ppt/notesMasters/notesMaster1.xml" Id="Rb3bf55bb4850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bd4ecb24884049" /><Relationship Type="http://schemas.openxmlformats.org/officeDocument/2006/relationships/notesMaster" Target="/ppt/notesMasters/notesMaster1.xml" Id="R7b73d9115f7440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0a735f14c849ac" /><Relationship Type="http://schemas.openxmlformats.org/officeDocument/2006/relationships/notesMaster" Target="/ppt/notesMasters/notesMaster1.xml" Id="R26c3c7e44ab0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先看这颗位于E5的黑子。棋子落在线的交叉点上。请沿着棋盘线找旁边的空点，再告诉伙伴你数到了几个。先保留答案，斜着靠近的空点是否也算，等会儿一起解释。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交叉点 intersection；棋子 stone；气 liberty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E5周围哪些空点直接相邻？斜角算吗？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E6、D5、F5、E4共4气；斜角不算。可能把8个周围点全算进去。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先让成员指出点位，再问“从黑子出发，沿一条线能直接到这个点吗？”不以答得快评价成员。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下一页把四口气逐点标出。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LIB-001 r1；assets/frozen/content/puzzles/LIB-001.json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现在把刚才的四个空点用虚线环标出来。它们是E6、D5、F5、E4。气一定是空点，而且上下左右沿线相邻。若有多颗同色棋子直接连在一起，就要看它们共同的整块，不能只盯着其中一颗。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气 liberty；连通块 connected group /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为什么斜角空点没有画环？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它与黑子不正交相邻；可能认为距离近就算。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沿棋盘线逐个比对。提示环画在空点，目标三角画在棋子上，两者含义不同。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下一页区分连接与斜邻。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LIB-001 r1；assets/frozen/content/puzzles/LIB-001.json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左图的B4与C4同色，而且沿线直接相邻，因此属于同一个连通块。D3虽然看起来靠近C4，但它只在斜角位置，仍是另一块。棋子数和棋块数是两回事，这里有三颗黑子、两个黑连通块。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连通块 connected group /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这里有几颗黑子、几个黑连通块？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3颗、2块。可能把斜邻也当实连。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请成员用手指沿已有同色棋子走，不能斜着跳，也不能跨空点。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下一页轮到成员自己找整块的气。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RULE-DEMO-T20-CONNECT r1；assets/frozen/materials/rule-cards/data/RULE-DEMO-T20-CONNECT.json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这次目标是三颗相连的黑子。请先各自找全部气，再互相核对。一个空点可能紧挨两颗黑子，但它还是同一个交叉点。不要先把每颗棋子的气数相加，先在整块外围逐点找。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气 liberty；共享气 shared liberty（说明词，非新增规则术语）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C4同时邻接两颗黑子，是否要算两次？全部气在哪？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C4只算一次。B5、A4、C4、A3、D3、B2、C2，共7气。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在成员尝试后逐点读出7个坐标。若重复计C4，就把同一个点圈一次，再查漏点。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把逐点核对带到两人练习。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熟练成员可解释为什么逐子相加会重复；不要求另造计数公式。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LIB-004 r1；assets/frozen/content/puzzles/LIB-004.json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两人共用一盘，一人摆一个小棋形，另一人找气，然后交换。可以从一颗棋子开始，再摆两颗正交相连的棋子。这里是摆棋练习，任意摆黑白不代表合法对局。已经掌握的成员可以直接下9路。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摆棋 setup；棋盘 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你打算先练单子，还是整块数气？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两种都可以，也允许直接对弈或观察。可能把自由摆子当成合法棋谱。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进入按规则对弈前确认盘面、轮次；从明确的新教学起点开始，过去历史未知，不编造劫史。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开始双人操作，讲解后的动手时间可按实际情况延长。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T22-EMPTY-5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2b1260dd04f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138d5e5be41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6d7371a1947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b9e47e9da41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eb3bc906942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3710420dd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FE13C27-49C7-4B6E-91E6-ABB8A1AF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A385F5-708C-43E5-8EE4-110E4C21AB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30813FE-70A5-421B-9BA9-51E3056E77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85EC4C3-2C15-413B-B95D-A2A61A31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9255D9-0DCB-4D38-B5A4-0A7B1DCF6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A480F31-DEC0-44FD-9723-42B19C7E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2EE59F-8F68-4011-8AAA-C81022E69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A7475D5-1A2A-4755-AD16-A40FC41A96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DE2C8E-A51B-49D4-A208-0020BFA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6D9EE4-9586-42E2-A83D-F7B161CF8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29EE41-7E63-487B-B24B-AA64C7D482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D674E6-D4D0-4683-BB64-5AF2A069CA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07F778E-3D89-429C-9919-77A74E13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46B9E5-03F0-42D7-8670-99A22B16E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260648-8759-4BAC-B4F1-5E18F5DEC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7149ce40094fd8" /><Relationship Type="http://schemas.openxmlformats.org/officeDocument/2006/relationships/slideLayout" Target="/ppt/slideLayouts/slideLayout1.xml" Id="Rab6c990bcd5e4211" /><Relationship Type="http://schemas.openxmlformats.org/officeDocument/2006/relationships/slideLayout" Target="/ppt/slideLayouts/slideLayout2.xml" Id="R54d42ce7b05148c6" /><Relationship Type="http://schemas.openxmlformats.org/officeDocument/2006/relationships/slideLayout" Target="/ppt/slideLayouts/slideLayout3.xml" Id="Rb661b84d858b4f62" /><Relationship Type="http://schemas.openxmlformats.org/officeDocument/2006/relationships/slideLayout" Target="/ppt/slideLayouts/slideLayout4.xml" Id="R1193d02ed2b9450b" /><Relationship Type="http://schemas.openxmlformats.org/officeDocument/2006/relationships/slideLayout" Target="/ppt/slideLayouts/slideLayout5.xml" Id="Rff1c7a98e4554388" /><Relationship Type="http://schemas.openxmlformats.org/officeDocument/2006/relationships/slideLayout" Target="/ppt/slideLayouts/slideLayout6.xml" Id="R828002b151d44c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6c990bcd5e4211"/>
    <p:sldLayoutId xmlns:r="http://schemas.openxmlformats.org/officeDocument/2006/relationships" id="2147483650" r:id="R54d42ce7b05148c6"/>
    <p:sldLayoutId xmlns:r="http://schemas.openxmlformats.org/officeDocument/2006/relationships" id="2147483651" r:id="Rb661b84d858b4f62"/>
    <p:sldLayoutId xmlns:r="http://schemas.openxmlformats.org/officeDocument/2006/relationships" id="2147483652" r:id="R1193d02ed2b9450b"/>
    <p:sldLayoutId xmlns:r="http://schemas.openxmlformats.org/officeDocument/2006/relationships" id="2147483653" r:id="Rff1c7a98e4554388"/>
    <p:sldLayoutId xmlns:r="http://schemas.openxmlformats.org/officeDocument/2006/relationships" id="2147483654" r:id="R828002b151d44c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055a9f5ba4af6" /><Relationship Type="http://schemas.openxmlformats.org/officeDocument/2006/relationships/notesSlide" Target="/ppt/notesSlides/notesSlide1.xml" Id="R5447ae4899b048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b600d502a4770" /><Relationship Type="http://schemas.openxmlformats.org/officeDocument/2006/relationships/notesSlide" Target="/ppt/notesSlides/notesSlide2.xml" Id="R7308a7d68724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63b122d404551" /><Relationship Type="http://schemas.openxmlformats.org/officeDocument/2006/relationships/notesSlide" Target="/ppt/notesSlides/notesSlide3.xml" Id="R8f146c8338cd41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f312b7c854172" /><Relationship Type="http://schemas.openxmlformats.org/officeDocument/2006/relationships/notesSlide" Target="/ppt/notesSlides/notesSlide4.xml" Id="Reb21a0a1f0ff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70168598a4fb8" /><Relationship Type="http://schemas.openxmlformats.org/officeDocument/2006/relationships/notesSlide" Target="/ppt/notesSlides/notesSlide5.xml" Id="Ra458cbfef2ff4f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ic">
            <a:extLst xmlns:a="http://schemas.openxmlformats.org/drawingml/2006/main">
              <a:ext uri="{FF2B5EF4-FFF2-40B4-BE49-F238E27FC236}">
                <a16:creationId xmlns:a16="http://schemas.microsoft.com/office/drawing/2014/main" id="{8C3FB9BC-05FC-41AD-A39F-423F1A0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41D252-4F63-432E-8F91-BF72E236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这颗黑子有几口气？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5DCAA69-71DF-449B-BA88-2EDF9FE1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01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53C3E570-509F-4264-BB68-5F56A19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EA252E68-13FD-4F0B-B1CF-ECDDF973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找出与黑子直接相邻的空点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D0E94DCD-47DE-4E1F-A98F-A35352CE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4310A384-4F8E-4AF4-A379-59A71D5F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29234C7F-851D-4168-A3B4-B008E45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4B01B60B-1930-4E6D-B0BC-9C711C32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3BEFDC90-FA44-438B-9DEA-1CD19E7B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EBF67A4D-B0F0-4636-8AA8-C3BF8B2B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354EED16-870A-4BEE-AB36-F805FEF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6C410589-D134-490D-8FB1-EA6779AF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2B622C4C-9E3F-4BA7-97F0-653B22A0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48C67EEF-E92C-4D80-9415-CD8947A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4526431B-D3CF-4EFB-9361-EDB3B46D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A0E52706-E13D-44F6-A08B-59D8A013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F4282100-1D58-49E2-AE7E-5F88192F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402E0407-22B2-4E82-9EDF-E8E8B4AA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5FC1CDC4-212F-498D-9212-E11F0C98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D346ABF1-A1DF-4670-9DA7-77CF207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79EB589A-3117-4015-86B2-63792AF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3EF339B0-1F31-49BB-AD4A-A7C7DE0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A63BF76A-5805-40FB-8747-63DEF7B3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2CB6AD3C-22AF-476C-AFE0-DE75930A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80666974-44F9-457A-AC30-7462FC1B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FAA2D9BB-F2DD-4257-9C30-0130CEF8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F4571B42-AE35-4855-BD5D-FBA9E108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747112F7-BCB9-4727-BDC0-3F6F3CB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1C58A0DE-DE50-4653-938D-405F6DBB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12C12B68-1005-4413-9C11-C1FEFC3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D239131C-360B-4B10-B578-945C8C79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0055F9A4-AB80-450F-B1ED-214C199C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88091C16-F980-4B98-A4A9-6CFE8875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868B1081-A1CB-4AF2-AD2F-6A38F65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57E5ED13-8C80-42CB-846C-01BE7591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82C57E7B-5ECB-456B-B22A-9F4FAAF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2E105755-3072-4B59-9FC4-B948ACFE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7B7AF43A-BDD7-4C5A-BBCC-39D48D0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CE2ED673-BBB6-4640-9189-8D6177A2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B455E358-8326-47C1-B3DC-CE7B6FCC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382D1587-5AC4-4AA7-AA46-206A0DB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ard0-stone-B-r4c4">
            <a:extLst xmlns:a="http://schemas.openxmlformats.org/drawingml/2006/main">
              <a:ext uri="{FF2B5EF4-FFF2-40B4-BE49-F238E27FC236}">
                <a16:creationId xmlns:a16="http://schemas.microsoft.com/office/drawing/2014/main" id="{72CD9639-38DC-44D1-A484-A58F3F05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74" y="3553849"/>
            <a:ext cx="302752" cy="302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4" name="board0-target-r4c4">
            <a:extLst xmlns:a="http://schemas.openxmlformats.org/drawingml/2006/main">
              <a:ext uri="{FF2B5EF4-FFF2-40B4-BE49-F238E27FC236}">
                <a16:creationId xmlns:a16="http://schemas.microsoft.com/office/drawing/2014/main" id="{EC0D037C-2574-4DD4-8125-68E0FA8E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884" y="3635359"/>
            <a:ext cx="139732" cy="139732"/>
          </a:xfrm>
          <a:custGeom xmlns:a="http://schemas.openxmlformats.org/drawingml/2006/main">
            <a:pathLst>
              <a:path w="139732" h="139732">
                <a:moveTo>
                  <a:pt x="69866" y="0"/>
                </a:moveTo>
                <a:lnTo>
                  <a:pt x="139732" y="139732"/>
                </a:lnTo>
                <a:lnTo>
                  <a:pt x="0" y="1397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5" name="body-0">
            <a:extLst xmlns:a="http://schemas.openxmlformats.org/drawingml/2006/main">
              <a:ext uri="{FF2B5EF4-FFF2-40B4-BE49-F238E27FC236}">
                <a16:creationId xmlns:a16="http://schemas.microsoft.com/office/drawing/2014/main" id="{9F0A5545-5B78-4AB7-A017-25F876C8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棋子落在交叉点</a:t>
            </a:r>
          </a:p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（intersection）上。</a:t>
            </a:r>
          </a:p>
        </p:txBody>
      </p:sp>
      <p:sp>
        <p:nvSpPr>
          <p:cNvPr id="46" name="body-1">
            <a:extLst xmlns:a="http://schemas.openxmlformats.org/drawingml/2006/main">
              <a:ext uri="{FF2B5EF4-FFF2-40B4-BE49-F238E27FC236}">
                <a16:creationId xmlns:a16="http://schemas.microsoft.com/office/drawing/2014/main" id="{496FA2ED-C236-42C0-BACC-28A8D538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33725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数出 E5 黑子的气（liberty）。</a:t>
            </a:r>
          </a:p>
        </p:txBody>
      </p:sp>
      <p:sp>
        <p:nvSpPr>
          <p:cNvPr id="47" name="body-2">
            <a:extLst xmlns:a="http://schemas.openxmlformats.org/drawingml/2006/main">
              <a:ext uri="{FF2B5EF4-FFF2-40B4-BE49-F238E27FC236}">
                <a16:creationId xmlns:a16="http://schemas.microsoft.com/office/drawing/2014/main" id="{20A4C47E-3F77-4B08-8546-6E004150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9525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只回答，不落子。</a:t>
            </a:r>
          </a:p>
        </p:txBody>
      </p:sp>
    </p:spTree>
    <p:extLst>
      <p:ext uri="{BB962C8B-B14F-4D97-AF65-F5344CB8AC3E}">
        <p14:creationId xmlns:p14="http://schemas.microsoft.com/office/powerpoint/2010/main" val="296483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ic">
            <a:extLst xmlns:a="http://schemas.openxmlformats.org/drawingml/2006/main">
              <a:ext uri="{FF2B5EF4-FFF2-40B4-BE49-F238E27FC236}">
                <a16:creationId xmlns:a16="http://schemas.microsoft.com/office/drawing/2014/main" id="{6EC8F8A0-2369-4D14-B7F3-F462F5A5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88E58F-779E-4434-BFA5-CA59CBF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沿线相邻的空点才是气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62CD79B-67BA-4EBB-9E4E-1B6B643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02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7C6F6617-23DD-4C8D-B380-56FFA4D8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69813ECB-0FE7-4AA8-B844-92A6466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虚线环＝气，不是棋子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5CA90B5B-DE31-4708-8FA9-2605F607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A3BCE3AC-90FC-4D6E-905F-7D7F8847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28AE66C6-F0D8-4101-80B8-86FFB7E3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23AF1348-9A5E-4EF3-AADB-5048FA75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DC5C661F-B1CA-44E5-9EEF-05955B80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F2D33E5-ED3C-4934-A2CB-7D63F3DE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88213A18-43F4-477D-890C-49016742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AE8A174C-0C5E-4443-8335-219039C6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0BA93FE5-85DC-4A94-B763-047BDCC9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24586B01-3619-4001-AE68-7752AEE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D6C9CD37-3930-42C9-93E8-0EE4BA8B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8E1472A7-8C9C-4EDD-A55E-0F68CA11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6B31824C-8560-4CCB-BE61-9AF6190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EA2F984D-776F-42AC-AEB8-56DE4390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CEDF982F-D269-4046-9B12-456BDF1C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68F307B5-6CA3-42BB-A2C3-82018A47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478F2D00-791C-48D6-8500-D929D0F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BDC9122F-916D-4EB1-A33A-C88FFC7E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516F816B-CD42-4545-9AE0-04A94990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85CBF2E-49F5-4BE8-8511-0D756F7C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59EA6031-B46B-4F21-895B-62438812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A98AF8F4-0A7F-445C-BA41-A8D4FFBC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57F18B85-84F4-48C4-AD20-01AF36EE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238DB274-7627-422F-9A24-BF3B4970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72A68AA4-2B78-42AD-9C33-82CA4B0A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3A5D4369-FD8A-49C1-B26E-49B17AA0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B4013B68-A442-48BE-A4A8-D9D6EC68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996FA367-AB37-44E8-A678-83D2A8D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B91F7756-6FEA-489A-857D-77CB0EDE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DAA8CCE7-6BE5-499C-9EEF-92EDE08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3E40C731-B58B-4BDB-8E49-E5B84062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D09CB275-60A4-4476-9765-A522CA3C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C5C0AE82-37D8-4988-B822-B632C457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7D902D02-C108-4106-AD1C-3076BDB0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5ED4D319-AF8C-4FB6-B869-B7313329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D071FFD1-F892-4966-BE7B-D35D419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8473895C-D8ED-4790-919E-96CACAE9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ard0-stone-B-r4c4">
            <a:extLst xmlns:a="http://schemas.openxmlformats.org/drawingml/2006/main">
              <a:ext uri="{FF2B5EF4-FFF2-40B4-BE49-F238E27FC236}">
                <a16:creationId xmlns:a16="http://schemas.microsoft.com/office/drawing/2014/main" id="{BB1EA816-E365-40B7-A419-4EF7EE32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74" y="3553849"/>
            <a:ext cx="302752" cy="302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4" name="board0-target-r4c4">
            <a:extLst xmlns:a="http://schemas.openxmlformats.org/drawingml/2006/main">
              <a:ext uri="{FF2B5EF4-FFF2-40B4-BE49-F238E27FC236}">
                <a16:creationId xmlns:a16="http://schemas.microsoft.com/office/drawing/2014/main" id="{7301023A-099C-462B-AA35-2D87B87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884" y="3635359"/>
            <a:ext cx="139732" cy="139732"/>
          </a:xfrm>
          <a:custGeom xmlns:a="http://schemas.openxmlformats.org/drawingml/2006/main">
            <a:pathLst>
              <a:path w="139732" h="139732">
                <a:moveTo>
                  <a:pt x="69866" y="0"/>
                </a:moveTo>
                <a:lnTo>
                  <a:pt x="139732" y="139732"/>
                </a:lnTo>
                <a:lnTo>
                  <a:pt x="0" y="1397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5" name="board0-liberty-r3c4">
            <a:extLst xmlns:a="http://schemas.openxmlformats.org/drawingml/2006/main">
              <a:ext uri="{FF2B5EF4-FFF2-40B4-BE49-F238E27FC236}">
                <a16:creationId xmlns:a16="http://schemas.microsoft.com/office/drawing/2014/main" id="{35578B8D-F736-468F-B1AB-53EA1191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766" y="3251097"/>
            <a:ext cx="131969" cy="1319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4B32"/>
            </a:solidFill>
            <a:prstDash val="dash"/>
          </a:ln>
        </p:spPr>
      </p:sp>
      <p:sp>
        <p:nvSpPr>
          <p:cNvPr id="46" name="board0-liberty-r4c3">
            <a:extLst xmlns:a="http://schemas.openxmlformats.org/drawingml/2006/main">
              <a:ext uri="{FF2B5EF4-FFF2-40B4-BE49-F238E27FC236}">
                <a16:creationId xmlns:a16="http://schemas.microsoft.com/office/drawing/2014/main" id="{B7561698-76D7-4D65-A68F-782D303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622" y="3639241"/>
            <a:ext cx="131969" cy="1319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4B32"/>
            </a:solidFill>
            <a:prstDash val="dash"/>
          </a:ln>
        </p:spPr>
      </p:sp>
      <p:sp>
        <p:nvSpPr>
          <p:cNvPr id="47" name="board0-liberty-r4c5">
            <a:extLst xmlns:a="http://schemas.openxmlformats.org/drawingml/2006/main">
              <a:ext uri="{FF2B5EF4-FFF2-40B4-BE49-F238E27FC236}">
                <a16:creationId xmlns:a16="http://schemas.microsoft.com/office/drawing/2014/main" id="{B8A1C053-2A42-4F46-9D68-F37565B0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909" y="3639241"/>
            <a:ext cx="131969" cy="1319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4B32"/>
            </a:solidFill>
            <a:prstDash val="dash"/>
          </a:ln>
        </p:spPr>
      </p:sp>
      <p:sp>
        <p:nvSpPr>
          <p:cNvPr id="48" name="board0-liberty-r5c4">
            <a:extLst xmlns:a="http://schemas.openxmlformats.org/drawingml/2006/main">
              <a:ext uri="{FF2B5EF4-FFF2-40B4-BE49-F238E27FC236}">
                <a16:creationId xmlns:a16="http://schemas.microsoft.com/office/drawing/2014/main" id="{1FAF3118-D168-4D31-9BF8-B7781108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766" y="4027384"/>
            <a:ext cx="131969" cy="1319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4B32"/>
            </a:solidFill>
            <a:prstDash val="dash"/>
          </a:ln>
        </p:spPr>
      </p:sp>
      <p:sp>
        <p:nvSpPr>
          <p:cNvPr id="49" name="body-0">
            <a:extLst xmlns:a="http://schemas.openxmlformats.org/drawingml/2006/main">
              <a:ext uri="{FF2B5EF4-FFF2-40B4-BE49-F238E27FC236}">
                <a16:creationId xmlns:a16="http://schemas.microsoft.com/office/drawing/2014/main" id="{2006C939-619B-4AB2-B74A-A218E3A6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虚线环标出四口气。</a:t>
            </a:r>
          </a:p>
        </p:txBody>
      </p:sp>
      <p:sp>
        <p:nvSpPr>
          <p:cNvPr id="50" name="body-1">
            <a:extLst xmlns:a="http://schemas.openxmlformats.org/drawingml/2006/main">
              <a:ext uri="{FF2B5EF4-FFF2-40B4-BE49-F238E27FC236}">
                <a16:creationId xmlns:a16="http://schemas.microsoft.com/office/drawing/2014/main" id="{5D117C17-33BB-48B6-B6C7-19C155DD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已有棋子的点不是气。</a:t>
            </a:r>
          </a:p>
        </p:txBody>
      </p:sp>
      <p:sp>
        <p:nvSpPr>
          <p:cNvPr id="51" name="body-2">
            <a:extLst xmlns:a="http://schemas.openxmlformats.org/drawingml/2006/main">
              <a:ext uri="{FF2B5EF4-FFF2-40B4-BE49-F238E27FC236}">
                <a16:creationId xmlns:a16="http://schemas.microsoft.com/office/drawing/2014/main" id="{6F9F4212-86C4-4146-818C-F2940BD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数气时，先看整块棋子。</a:t>
            </a:r>
          </a:p>
        </p:txBody>
      </p:sp>
    </p:spTree>
    <p:extLst>
      <p:ext uri="{BB962C8B-B14F-4D97-AF65-F5344CB8AC3E}">
        <p14:creationId xmlns:p14="http://schemas.microsoft.com/office/powerpoint/2010/main" val="4284797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ic">
            <a:extLst xmlns:a="http://schemas.openxmlformats.org/drawingml/2006/main">
              <a:ext uri="{FF2B5EF4-FFF2-40B4-BE49-F238E27FC236}">
                <a16:creationId xmlns:a16="http://schemas.microsoft.com/office/drawing/2014/main" id="{7C2E93B8-C94B-4824-959A-9DC9C821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5171E7-483E-4860-B09D-E0331A3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靠得近，连成一块了吗？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490CCAE-A134-4F5C-A4A6-3A94746E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03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B239D29F-3595-49FA-BAB6-DB8E1B53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1F11B3E7-27AA-4F2A-9C1E-11277E2B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两颗相连；另一颗只斜着靠近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54779C03-8D84-416A-812B-5C02D34B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9C693957-9B94-45F7-9B49-BD641FE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41F1A8ED-012D-4BD7-80AF-310273C3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7AEFBE63-9D64-4060-B95C-B830013C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6ACAC6D0-C551-4E2B-B528-F2C0971A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C822850-44F4-4457-A0CC-24CDDECB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6228C1AA-F6E1-44A9-97AA-76ADFE0A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D721A0A0-A1CE-4FB4-87DD-AEEAB34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53229519-6D0B-4786-A6FB-759A2D10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04B58476-25A7-4179-8740-C872FB86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B416AB48-108D-4D20-8E60-E7D541B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104676AE-5A30-4455-BE94-BAA2EF6E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AACBD3FB-180A-4EAD-96C3-1B2F34F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546B8507-FC8F-4FD6-B72B-BFCBD43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912AA701-F900-4D7F-9E7B-4F09A73F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7ECAE91E-B10B-49D7-8F14-0289289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85F76BFA-D71D-4AEE-AF84-B44945F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201652C4-7C1B-43F0-A978-9958EC64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6E689A1B-437D-4468-B671-9E580101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BACB95E-88D1-4DAF-9F32-75C8E26E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11732101-9EEC-488E-A3C7-D96C64A4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986BF83C-4D18-4D7B-85AE-1B30865A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B5264290-E27C-4379-BF7C-9D2C76DD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6C1EDE74-93FF-4901-954D-EFF69357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dy-0">
            <a:extLst xmlns:a="http://schemas.openxmlformats.org/drawingml/2006/main">
              <a:ext uri="{FF2B5EF4-FFF2-40B4-BE49-F238E27FC236}">
                <a16:creationId xmlns:a16="http://schemas.microsoft.com/office/drawing/2014/main" id="{B080BC95-474B-4554-B2B0-38F0094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B4 与 C4 沿线相连。</a:t>
            </a:r>
          </a:p>
        </p:txBody>
      </p:sp>
      <p:sp>
        <p:nvSpPr>
          <p:cNvPr id="31" name="body-1">
            <a:extLst xmlns:a="http://schemas.openxmlformats.org/drawingml/2006/main">
              <a:ext uri="{FF2B5EF4-FFF2-40B4-BE49-F238E27FC236}">
                <a16:creationId xmlns:a16="http://schemas.microsoft.com/office/drawing/2014/main" id="{5BE7D058-FE13-4823-BB6B-80B8CF3A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D3 只是斜邻，属于另一块。</a:t>
            </a:r>
          </a:p>
        </p:txBody>
      </p:sp>
      <p:sp>
        <p:nvSpPr>
          <p:cNvPr id="32" name="body-2">
            <a:extLst xmlns:a="http://schemas.openxmlformats.org/drawingml/2006/main">
              <a:ext uri="{FF2B5EF4-FFF2-40B4-BE49-F238E27FC236}">
                <a16:creationId xmlns:a16="http://schemas.microsoft.com/office/drawing/2014/main" id="{62528E11-7832-4307-992C-90BB077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连通块（connected group）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只看同色上下左右相邻。</a:t>
            </a:r>
          </a:p>
        </p:txBody>
      </p:sp>
    </p:spTree>
    <p:extLst>
      <p:ext uri="{BB962C8B-B14F-4D97-AF65-F5344CB8AC3E}">
        <p14:creationId xmlns:p14="http://schemas.microsoft.com/office/powerpoint/2010/main" val="502954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ic">
            <a:extLst xmlns:a="http://schemas.openxmlformats.org/drawingml/2006/main">
              <a:ext uri="{FF2B5EF4-FFF2-40B4-BE49-F238E27FC236}">
                <a16:creationId xmlns:a16="http://schemas.microsoft.com/office/drawing/2014/main" id="{8F01A18D-AD5F-42EC-942D-632DCD7C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F8776C-F3AB-461C-99E0-C8ED077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同一个空点，算几次？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8916446-0CFA-4979-B626-F6E2408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04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04BB6B65-A3E6-42EF-9B51-DDABF9D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E0A62CE2-C1E4-4DD6-81A5-A50F7E82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△标目标黑块；完整5×5练习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CAD6869F-C44A-4523-8888-81EFC047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3A971565-DFB2-473D-9289-5E84F51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69E9EB4E-B6C9-4766-B678-EEE98AAC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8766FBC1-65EC-48C4-897E-6F14F88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3F853E85-ACFD-4280-AA57-DA59229F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CD2569C1-07E6-4B95-AEA1-DE02E9D7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055EE934-DB13-4F32-937B-01874009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FA13CF75-DC59-4271-8EAF-2A01663A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C330F821-4B26-42CA-9CB0-9C5DE870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85EF8739-9408-4560-999E-48E4D68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A07A315F-C644-4192-8D02-1621235C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27C2C500-91AD-41B4-BC1B-5D04E025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704E32F7-90BB-4C18-8AB0-37A81C55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7BF3BB2B-81DF-4CF5-9240-DC820047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16AD07DC-366E-4C78-A50A-ABB6D08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7AD2EFBE-DBF4-492D-AEBF-8F11932E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B104F5EE-78A4-4830-82B3-B6739A28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3F35D502-0263-490A-BAE4-EBDC9BFF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999F2E5F-5E08-4011-8E03-6B4E5275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C7E9238-5B73-4669-9CF4-7F0D0DD3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E7F4D9CE-14A4-4B2C-9DB6-F0F102F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4D69F79D-E883-4B08-9078-5D31EB05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710114F7-8281-406E-8056-3E1ED3EC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17702E7D-6309-43F6-A6A7-3FCD0440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target-r1c1">
            <a:extLst xmlns:a="http://schemas.openxmlformats.org/drawingml/2006/main">
              <a:ext uri="{FF2B5EF4-FFF2-40B4-BE49-F238E27FC236}">
                <a16:creationId xmlns:a16="http://schemas.microsoft.com/office/drawing/2014/main" id="{825BD13C-8E43-4034-A0DD-61A0623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2789206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1" name="board0-target-r2c1">
            <a:extLst xmlns:a="http://schemas.openxmlformats.org/drawingml/2006/main">
              <a:ext uri="{FF2B5EF4-FFF2-40B4-BE49-F238E27FC236}">
                <a16:creationId xmlns:a16="http://schemas.microsoft.com/office/drawing/2014/main" id="{5C242D11-581E-4183-8A9B-03AE790C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2" name="board0-target-r2c2">
            <a:extLst xmlns:a="http://schemas.openxmlformats.org/drawingml/2006/main">
              <a:ext uri="{FF2B5EF4-FFF2-40B4-BE49-F238E27FC236}">
                <a16:creationId xmlns:a16="http://schemas.microsoft.com/office/drawing/2014/main" id="{8C8497E7-2D4D-4116-A4F0-BA76671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3" name="body-0">
            <a:extLst xmlns:a="http://schemas.openxmlformats.org/drawingml/2006/main">
              <a:ext uri="{FF2B5EF4-FFF2-40B4-BE49-F238E27FC236}">
                <a16:creationId xmlns:a16="http://schemas.microsoft.com/office/drawing/2014/main" id="{3935133A-430B-4A1F-8C4A-45BC3C52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找出标记黑块的全部气。</a:t>
            </a:r>
          </a:p>
        </p:txBody>
      </p:sp>
      <p:sp>
        <p:nvSpPr>
          <p:cNvPr id="34" name="body-1">
            <a:extLst xmlns:a="http://schemas.openxmlformats.org/drawingml/2006/main">
              <a:ext uri="{FF2B5EF4-FFF2-40B4-BE49-F238E27FC236}">
                <a16:creationId xmlns:a16="http://schemas.microsoft.com/office/drawing/2014/main" id="{DFEE5D99-D432-4FFA-901B-9210CDD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只选空点，不落子。</a:t>
            </a:r>
          </a:p>
        </p:txBody>
      </p:sp>
      <p:sp>
        <p:nvSpPr>
          <p:cNvPr id="35" name="body-2">
            <a:extLst xmlns:a="http://schemas.openxmlformats.org/drawingml/2006/main">
              <a:ext uri="{FF2B5EF4-FFF2-40B4-BE49-F238E27FC236}">
                <a16:creationId xmlns:a16="http://schemas.microsoft.com/office/drawing/2014/main" id="{04F42DE1-0F29-4367-A671-B70925DC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先各自找，再和伙伴核对。</a:t>
            </a:r>
          </a:p>
        </p:txBody>
      </p:sp>
    </p:spTree>
    <p:extLst>
      <p:ext uri="{BB962C8B-B14F-4D97-AF65-F5344CB8AC3E}">
        <p14:creationId xmlns:p14="http://schemas.microsoft.com/office/powerpoint/2010/main" val="733576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ic">
            <a:extLst xmlns:a="http://schemas.openxmlformats.org/drawingml/2006/main">
              <a:ext uri="{FF2B5EF4-FFF2-40B4-BE49-F238E27FC236}">
                <a16:creationId xmlns:a16="http://schemas.microsoft.com/office/drawing/2014/main" id="{75E44DA7-1129-4C04-BD7F-119DAB79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990943-4DE0-487C-9572-566653F1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两个人，轮流摆与找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2420C5F-00E1-40F0-A12D-6C40076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05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27C1C290-CEDD-4A68-AC97-12ED073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A3BEA402-702A-4D1D-988F-243A1F0F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摆棋（setup）练习，非合法棋谱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55560C81-F492-47B5-9B0E-E04B6CCB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97629E5C-EEDC-4516-80FD-94E4DC17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C1F39771-A3A6-41BC-8956-CA971B8B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94FC0797-6196-4640-AAB1-DF0F6481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9653A967-2BE6-4184-B2CD-D4A6548A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3F2702F-80D2-419F-B806-D8B5D276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514CB78D-9DEF-4E77-9CB5-5A1B046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1C74AAAC-E892-400E-B052-6EE98603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F231290E-C6B9-467A-B19C-1AA23CA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05F4F177-C0E5-4A96-A044-4CF27C48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024DA9D0-CFDA-4F60-B8B4-A07F5E7D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37141A61-E8EE-4940-A355-A3655DAE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2D4A6E6A-A765-4002-8D04-BB2BEFC5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0C180411-0716-4904-868A-5B94DC6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1BE58ADA-93BC-42DE-8DE0-1D993C71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F0EB3C58-30C5-48D2-809D-F4EE1A94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42F6570B-0246-4324-A008-EF1D6FFE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75232E15-C84E-4CA9-AAB6-41578165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424D1737-EF83-45AF-ADF6-B1225A20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53E718CC-F266-4B2F-92FA-2D9FD974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D01F6C35-EE5F-4662-B26B-1373D1C6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dy-0">
            <a:extLst xmlns:a="http://schemas.openxmlformats.org/drawingml/2006/main">
              <a:ext uri="{FF2B5EF4-FFF2-40B4-BE49-F238E27FC236}">
                <a16:creationId xmlns:a16="http://schemas.microsoft.com/office/drawing/2014/main" id="{1688FE2D-14F7-4C25-842B-5772DDFF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5×5摆棋练习，或直接9×9对弈。</a:t>
            </a:r>
          </a:p>
        </p:txBody>
      </p:sp>
      <p:sp>
        <p:nvSpPr>
          <p:cNvPr id="28" name="body-1">
            <a:extLst xmlns:a="http://schemas.openxmlformats.org/drawingml/2006/main">
              <a:ext uri="{FF2B5EF4-FFF2-40B4-BE49-F238E27FC236}">
                <a16:creationId xmlns:a16="http://schemas.microsoft.com/office/drawing/2014/main" id="{B4DBAEDD-0CA4-4D91-A231-28595A7E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一人摆棋，另一人指出整块的气。</a:t>
            </a:r>
          </a:p>
        </p:txBody>
      </p:sp>
      <p:sp>
        <p:nvSpPr>
          <p:cNvPr id="29" name="body-2">
            <a:extLst xmlns:a="http://schemas.openxmlformats.org/drawingml/2006/main">
              <a:ext uri="{FF2B5EF4-FFF2-40B4-BE49-F238E27FC236}">
                <a16:creationId xmlns:a16="http://schemas.microsoft.com/office/drawing/2014/main" id="{1E8FCE1F-4412-4532-B98D-1B4B3FE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交换角色；不确定就一起逐点找。</a:t>
            </a:r>
          </a:p>
        </p:txBody>
      </p:sp>
    </p:spTree>
    <p:extLst>
      <p:ext uri="{BB962C8B-B14F-4D97-AF65-F5344CB8AC3E}">
        <p14:creationId xmlns:p14="http://schemas.microsoft.com/office/powerpoint/2010/main" val="676365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2026-10-05T09:57:28.9950000Z</dcterms:created>
  <dcterms:modified xsi:type="dcterms:W3CDTF">2026-10-05T09:57:28.9950000Z</dcterms:modified>
</coreProperties>
</file>